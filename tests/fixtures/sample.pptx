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12192000"/>
  <p:defaultTextStyle>
    <a:lvl1pPr>
      <a:defRPr sz="1800">
        <a:latin typeface="+mn-lt"/>
      </a:defRPr>
    </a:lvl1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0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0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200" b="1"/>
              <a:t>Quarterly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32</c:v>
                </c:pt>
                <c:pt idx="1">
                  <c:v>41</c:v>
                </c:pt>
                <c:pt idx="2">
                  <c:v>38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52</c:v>
                </c:pt>
                <c:pt idx="3">
                  <c:v>68</c:v>
                </c:pt>
              </c:numCache>
            </c:numRef>
          </c:val>
        </c:ser>
        <c:overlap val="-27"/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200" b="1"/>
              <a:t>Where the time goes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</c:dPt>
          <c:dPt>
            <c:idx val="1"/>
            <c:bubble3D val="0"/>
            <c:spPr>
              <a:solidFill>
                <a:schemeClr val="accent2"/>
              </a:solidFill>
            </c:spPr>
          </c:dPt>
          <c:dPt>
            <c:idx val="2"/>
            <c:bubble3D val="0"/>
            <c:spPr>
              <a:solidFill>
                <a:schemeClr val="accent3"/>
              </a:solidFill>
            </c:spPr>
          </c:dPt>
          <c:dPt>
            <c:idx val="3"/>
            <c:bubble3D val="0"/>
            <c:spPr>
              <a:solidFill>
                <a:schemeClr val="accent4"/>
              </a:solidFill>
            </c:spPr>
          </c:dPt>
          <c:cat>
            <c:strRef>
              <c:f>Sheet1!$A$2</c:f>
              <c:strCache>
                <c:ptCount val="4"/>
                <c:pt idx="0">
                  <c:v>Parsing</c:v>
                </c:pt>
                <c:pt idx="1">
                  <c:v>Rendering</c:v>
                </c:pt>
                <c:pt idx="2">
                  <c:v>Editing</c:v>
                </c:pt>
                <c:pt idx="3">
                  <c:v>Saving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21</c:v>
                </c:pt>
                <c:pt idx="3">
                  <c:v>10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200" b="1"/>
              <a:t>Weekly active users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week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7"/>
                <c:pt idx="0">
                  <c:v>120</c:v>
                </c:pt>
                <c:pt idx="1">
                  <c:v>138</c:v>
                </c:pt>
                <c:pt idx="2">
                  <c:v>131</c:v>
                </c:pt>
                <c:pt idx="3">
                  <c:v>152</c:v>
                </c:pt>
                <c:pt idx="4">
                  <c:v>166</c:v>
                </c:pt>
                <c:pt idx="5">
                  <c:v>90</c:v>
                </c:pt>
                <c:pt idx="6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week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7"/>
                <c:pt idx="0">
                  <c:v>104</c:v>
                </c:pt>
                <c:pt idx="1">
                  <c:v>119</c:v>
                </c:pt>
                <c:pt idx="2">
                  <c:v/>
                </c:pt>
                <c:pt idx="3">
                  <c:v>133</c:v>
                </c:pt>
                <c:pt idx="4">
                  <c:v>141</c:v>
                </c:pt>
                <c:pt idx="5">
                  <c:v>82</c:v>
                </c:pt>
                <c:pt idx="6">
                  <c:v>69</c:v>
                </c:pt>
              </c:numCache>
            </c:numRef>
          </c:val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200" b="1"/>
              <a:t>Effort by area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Parser</c:v>
                </c:pt>
                <c:pt idx="1">
                  <c:v>Renderer</c:v>
                </c:pt>
                <c:pt idx="2">
                  <c:v>Editor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Build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Parser</c:v>
                </c:pt>
                <c:pt idx="1">
                  <c:v>Renderer</c:v>
                </c:pt>
                <c:pt idx="2">
                  <c:v>Editor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3"/>
                <c:pt idx="0">
                  <c:v>30</c:v>
                </c:pt>
                <c:pt idx="1">
                  <c:v>26</c:v>
                </c:pt>
                <c:pt idx="2">
                  <c:v>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Parser</c:v>
                </c:pt>
                <c:pt idx="1">
                  <c:v>Renderer</c:v>
                </c:pt>
                <c:pt idx="2">
                  <c:v>Editor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3"/>
                <c:pt idx="0">
                  <c:v>9</c:v>
                </c:pt>
                <c:pt idx="1">
                  <c:v>11</c:v>
                </c:pt>
                <c:pt idx="2">
                  <c:v>16</c:v>
                </c:pt>
              </c:numCache>
            </c:numRef>
          </c:val>
        </c:ser>
        <c:overlap val="100"/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200" b="1"/>
              <a:t>Coverage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</c:dPt>
          <c:dPt>
            <c:idx val="1"/>
            <c:bubble3D val="0"/>
            <c:spPr>
              <a:solidFill>
                <a:schemeClr val="accent2"/>
              </a:solidFill>
            </c:spPr>
          </c:dPt>
          <c:cat>
            <c:strRef>
              <c:f>Sheet1!$A$2</c:f>
              <c:strCache>
                <c:ptCount val="2"/>
                <c:pt idx="0">
                  <c:v>Done</c:v>
                </c:pt>
                <c:pt idx="1">
                  <c:v>Left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55"/>
      </c:doughnutChart>
    </c:plotArea>
    <c:legend>
      <c:legendPos val="r"/>
      <c:overlay val="0"/>
    </c:legend>
    <c:plotVisOnly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Notes Placeholder"/>
          <p:cNvSpPr/>
          <p:nvPr>
            <p:ph type="body" idx="1"/>
          </p:nvPr>
        </p:nvSpPr>
        <p:spPr>
          <a:xfrm>
            <a:off x="381000" y="381000"/>
            <a:ext cx="5715000" cy="28575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/>
              <a:t>These notes come from ppt/notesSlides/notesSlide1.xml.</a:t>
            </a:r>
          </a:p>
          <a:p>
            <a:pPr>
              <a:buNone/>
            </a:pPr>
            <a:r>
              <a:rPr lang="en-US"/>
              <a:t>They prove the notes pane and the Markdown extraction both pick them up.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/>
          <p:nvPr>
            <p:ph type="ctrTitle"/>
          </p:nvPr>
        </p:nvSpPr>
        <p:spPr>
          <a:xfrm>
            <a:off x="952500" y="2381250"/>
            <a:ext cx="10287000" cy="1333500"/>
          </a:xfrm>
          <a:prstGeom prst="rect">
            <a:avLst/>
          </a:prstGeom>
          <a:noFill/>
        </p:spPr>
        <p:txBody>
          <a:bodyPr anchor="b"/>
          <a:lstStyle/>
          <a:p/>
        </p:txBody>
      </p:sp>
      <p:sp>
        <p:nvSpPr>
          <p:cNvPr id="103" name="Subtitle"/>
          <p:cNvSpPr/>
          <p:nvPr>
            <p:ph type="subTitle" idx="1"/>
          </p:nvPr>
        </p:nvSpPr>
        <p:spPr>
          <a:xfrm>
            <a:off x="952500" y="3810000"/>
            <a:ext cx="10287000" cy="762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ccent 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5" name="Footer rule"/>
          <p:cNvSpPr/>
          <p:nvPr/>
        </p:nvSpPr>
        <p:spPr>
          <a:xfrm>
            <a:off x="762000" y="6362700"/>
            <a:ext cx="10668000" cy="9525"/>
          </a:xfrm>
          <a:prstGeom prst="rect">
            <a:avLst/>
          </a:prstGeom>
          <a:solidFill>
            <a:srgbClr val="D6DEE8"/>
          </a:solidFill>
        </p:spPr>
      </p:sp>
      <p:sp>
        <p:nvSpPr>
          <p:cNvPr id="106" name="Title"/>
          <p:cNvSpPr/>
          <p:nvPr>
            <p:ph type="title"/>
          </p:nvPr>
        </p:nvSpPr>
        <p:spPr>
          <a:xfrm>
            <a:off x="762000" y="457200"/>
            <a:ext cx="10668000" cy="762000"/>
          </a:xfrm>
          <a:prstGeom prst="rect">
            <a:avLst/>
          </a:prstGeom>
          <a:noFill/>
        </p:spPr>
        <p:txBody>
          <a:bodyPr anchor="b"/>
          <a:lstStyle/>
          <a:p/>
        </p:txBody>
      </p:sp>
      <p:sp>
        <p:nvSpPr>
          <p:cNvPr id="107" name="Content"/>
          <p:cNvSpPr/>
          <p:nvPr>
            <p:ph type="body" idx="1"/>
          </p:nvPr>
        </p:nvSpPr>
        <p:spPr>
          <a:xfrm>
            <a:off x="762000" y="1524000"/>
            <a:ext cx="10668000" cy="45720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aster title"/>
          <p:cNvSpPr/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anchor="b"/>
          <a:lstStyle/>
          <a:p/>
        </p:txBody>
      </p:sp>
      <p:sp>
        <p:nvSpPr>
          <p:cNvPr id="101" name="Master body"/>
          <p:cNvSpPr/>
          <p:nvPr>
            <p:ph type="body" idx="1"/>
          </p:nvPr>
        </p:nvSpPr>
        <p:spPr>
          <a:xfrm>
            <a:off x="762000" y="1809750"/>
            <a:ext cx="10668000" cy="43815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buNone/>
        <a:defRPr sz="4000" b="1">
          <a:solidFill>
            <a:schemeClr val="tx2"/>
          </a:solidFill>
          <a:latin typeface="+mj-lt"/>
        </a:defRPr>
      </a:lvl1pPr>
    </p:titleStyle>
    <p:bodyStyle>
      <a:lvl1pPr marL="0" indent="-190500">
        <a:buFont typeface="Arial"/>
        <a:buChar char="●"/>
        <a:defRPr sz="2200">
          <a:solidFill>
            <a:schemeClr val="tx1"/>
          </a:solidFill>
          <a:latin typeface="+mn-lt"/>
        </a:defRPr>
      </a:lvl1pPr>
      <a:lvl2pPr marL="266700" indent="-190500">
        <a:buFont typeface="Arial"/>
        <a:buChar char="○"/>
        <a:defRPr sz="1900">
          <a:solidFill>
            <a:schemeClr val="tx1"/>
          </a:solidFill>
          <a:latin typeface="+mn-lt"/>
        </a:defRPr>
      </a:lvl2pPr>
      <a:lvl3pPr marL="533400" indent="-190500">
        <a:buFont typeface="Arial"/>
        <a:buChar char="▪"/>
        <a:defRPr sz="1700">
          <a:solidFill>
            <a:schemeClr val="tx1"/>
          </a:solidFill>
          <a:latin typeface="+mn-lt"/>
        </a:defRPr>
      </a:lvl3pPr>
      <a:lvl4pPr marL="800100" indent="-190500">
        <a:buFont typeface="Arial"/>
        <a:buChar char="–"/>
        <a:defRPr sz="1500">
          <a:solidFill>
            <a:schemeClr val="tx1"/>
          </a:solidFill>
          <a:latin typeface="+mn-lt"/>
        </a:defRPr>
      </a:lvl4pPr>
    </p:bodyStyle>
    <p:otherStyle>
      <a:lvl1pPr>
        <a:defRPr sz="14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bsidian.md" TargetMode="External"/><Relationship Id="rId3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DCE6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/>
          <p:nvPr>
            <p:ph type="ctr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PPTX Viewer</a:t>
            </a:r>
          </a:p>
        </p:txBody>
      </p:sp>
      <p:sp>
        <p:nvSpPr>
          <p:cNvPr id="109" name="Subtitle 2"/>
          <p:cNvSpPr/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000">
                <a:solidFill>
                  <a:srgbClr val="51606F"/>
                </a:solidFill>
              </a:rPr>
              <a:t>A fixture deck — every feature the renderer claims, exactly once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Bullets, levels and numbering</a:t>
            </a:r>
          </a:p>
        </p:txBody>
      </p:sp>
      <p:sp>
        <p:nvSpPr>
          <p:cNvPr id="111" name="Content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Level one inherits its bullet from the master</a:t>
            </a:r>
          </a:p>
          <a:p>
            <a:pPr lvl="1"/>
            <a:r>
              <a:rPr lang="en-US"/>
              <a:t>Level two, indented and smaller</a:t>
            </a:r>
          </a:p>
          <a:p>
            <a:pPr lvl="2"/>
            <a:r>
              <a:rPr lang="en-US"/>
              <a:t>Level three keeps going</a:t>
            </a:r>
          </a:p>
          <a:p>
            <a:pPr>
              <a:buNone/>
            </a:pPr>
            <a:r>
              <a:rPr lang="en-US"/>
              <a:t/>
            </a:r>
          </a:p>
          <a:p>
            <a:pPr>
              <a:buFont typeface="+mj-lt"/>
              <a:buAutoNum type="arabicPeriod"/>
            </a:pPr>
            <a:r>
              <a:rPr lang="en-US"/>
              <a:t>Auto-numbered items restart per level</a:t>
            </a:r>
          </a:p>
          <a:p>
            <a:pPr>
              <a:buFont typeface="+mj-lt"/>
              <a:buAutoNum type="arabicPeriod"/>
            </a:pPr>
            <a:r>
              <a:rPr lang="en-US"/>
              <a:t>Second numbered item</a:t>
            </a:r>
          </a:p>
          <a:p>
            <a:pPr>
              <a:buFont typeface="+mj-lt"/>
              <a:buAutoNum type="arabicPeriod"/>
            </a:pPr>
            <a:r>
              <a:rPr lang="en-US"/>
              <a:t>Third numbered item</a:t>
            </a:r>
          </a:p>
          <a:p>
            <a:pPr>
              <a:buNone/>
            </a:pPr>
            <a:r>
              <a:rPr lang="en-US"/>
              <a:t/>
            </a:r>
          </a:p>
          <a:p>
            <a:pPr>
              <a:buNone/>
            </a:pPr>
            <a:r>
              <a:rPr lang="en-US"/>
              <a:t>Mixed runs: </a:t>
            </a:r>
            <a:r>
              <a:rPr lang="en-US" b="1"/>
              <a:t>bold</a:t>
            </a:r>
            <a:r>
              <a:rPr lang="en-US"/>
              <a:t>, </a:t>
            </a:r>
            <a:r>
              <a:rPr lang="en-US" i="1"/>
              <a:t>italic</a:t>
            </a:r>
            <a:r>
              <a:rPr lang="en-US"/>
              <a:t>, </a:t>
            </a:r>
            <a:r>
              <a:rPr lang="en-US" u="sng"/>
              <a:t>underlined</a:t>
            </a:r>
            <a:r>
              <a:rPr lang="en-US"/>
              <a:t>, </a:t>
            </a:r>
            <a:r>
              <a:rPr lang="en-US" b="1">
                <a:solidFill>
                  <a:srgbClr val="E8590C"/>
                </a:solidFill>
              </a:rPr>
              <a:t>coloured</a:t>
            </a:r>
            <a:r>
              <a:rPr lang="en-US"/>
              <a:t> — all in one paragraph.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Shapes, fills and outlines</a:t>
            </a:r>
          </a:p>
        </p:txBody>
      </p:sp>
      <p:sp>
        <p:nvSpPr>
          <p:cNvPr id="113" name="Rect"/>
          <p:cNvSpPr/>
          <p:nvPr/>
        </p:nvSpPr>
        <p:spPr>
          <a:xfrm>
            <a:off x="762000" y="1809750"/>
            <a:ext cx="1905000" cy="1143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>
              <a:buNone/>
            </a:pPr>
            <a:r>
              <a:rPr lang="en-US" b="1">
                <a:solidFill>
                  <a:srgbClr val="FFFFFF"/>
                </a:solidFill>
              </a:rPr>
              <a:t>rect</a:t>
            </a:r>
          </a:p>
        </p:txBody>
      </p:sp>
      <p:sp>
        <p:nvSpPr>
          <p:cNvPr id="114" name="RoundRect"/>
          <p:cNvSpPr/>
          <p:nvPr/>
        </p:nvSpPr>
        <p:spPr>
          <a:xfrm>
            <a:off x="2952750" y="1809750"/>
            <a:ext cx="1905000" cy="1143000"/>
          </a:xfrm>
          <a:prstGeom prst="roundRect">
            <a:avLst/>
          </a:prstGeom>
          <a:gradFill rotWithShape="1">
            <a:gsLst>
              <a:gs pos="0">
                <a:srgbClr val="12B886"/>
              </a:gs>
              <a:gs pos="100000">
                <a:srgbClr val="0B7285"/>
              </a:gs>
            </a:gsLst>
            <a:lin ang="2700000" scaled="0"/>
          </a:gradFill>
        </p:spPr>
        <p:txBody>
          <a:bodyPr anchor="ctr"/>
          <a:lstStyle/>
          <a:p>
            <a:pPr algn="ctr">
              <a:buNone/>
            </a:pPr>
            <a:r>
              <a:rPr lang="en-US" b="1">
                <a:solidFill>
                  <a:srgbClr val="FFFFFF"/>
                </a:solidFill>
              </a:rPr>
              <a:t>roundRect</a:t>
            </a:r>
          </a:p>
        </p:txBody>
      </p:sp>
      <p:sp>
        <p:nvSpPr>
          <p:cNvPr id="115" name="Ellipse"/>
          <p:cNvSpPr/>
          <p:nvPr/>
        </p:nvSpPr>
        <p:spPr>
          <a:xfrm>
            <a:off x="5143500" y="1809750"/>
            <a:ext cx="1905000" cy="1143000"/>
          </a:xfrm>
          <a:prstGeom prst="ellipse">
            <a:avLst/>
          </a:prstGeom>
          <a:solidFill>
            <a:schemeClr val="accent4"/>
          </a:solidFill>
          <a:ln w="28575">
            <a:solidFill>
              <a:srgbClr val="8B5A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b="1"/>
              <a:t>ellipse</a:t>
            </a:r>
          </a:p>
        </p:txBody>
      </p:sp>
      <p:sp>
        <p:nvSpPr>
          <p:cNvPr id="116" name="Triangle"/>
          <p:cNvSpPr/>
          <p:nvPr/>
        </p:nvSpPr>
        <p:spPr>
          <a:xfrm>
            <a:off x="7334250" y="1809750"/>
            <a:ext cx="1333500" cy="1143000"/>
          </a:xfrm>
          <a:prstGeom prst="triangle">
            <a:avLst/>
          </a:prstGeom>
          <a:solidFill>
            <a:schemeClr val="accent5"/>
          </a:solidFill>
        </p:spPr>
      </p:sp>
      <p:sp>
        <p:nvSpPr>
          <p:cNvPr id="117" name="Star"/>
          <p:cNvSpPr/>
          <p:nvPr/>
        </p:nvSpPr>
        <p:spPr>
          <a:xfrm>
            <a:off x="8858250" y="1809750"/>
            <a:ext cx="1143000" cy="1143000"/>
          </a:xfrm>
          <a:prstGeom prst="star5">
            <a:avLst/>
          </a:prstGeom>
          <a:solidFill>
            <a:schemeClr val="accent6"/>
          </a:solidFill>
        </p:spPr>
      </p:sp>
      <p:sp>
        <p:nvSpPr>
          <p:cNvPr id="118" name="Arrow"/>
          <p:cNvSpPr/>
          <p:nvPr/>
        </p:nvSpPr>
        <p:spPr>
          <a:xfrm>
            <a:off x="10191750" y="1952625"/>
            <a:ext cx="1238250" cy="85725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119" name="Rotated"/>
          <p:cNvSpPr/>
          <p:nvPr/>
        </p:nvSpPr>
        <p:spPr>
          <a:xfrm rot="-480000">
            <a:off x="762000" y="3619500"/>
            <a:ext cx="2095500" cy="8572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r>
              <a:rPr lang="en-US"/>
              <a:t>rotated −8°, dashed</a:t>
            </a:r>
          </a:p>
        </p:txBody>
      </p:sp>
      <p:grpSp>
        <p:nvGrpSpPr>
          <p:cNvPr id="123" name="Group"/>
          <p:cNvGrpSpPr/>
          <p:nvPr/>
        </p:nvGrpSpPr>
        <p:grpSpPr>
          <a:xfrm>
            <a:off x="3238500" y="3524250"/>
            <a:ext cx="3810000" cy="1047750"/>
            <a:chOff x="0" y="0"/>
            <a:chExt cx="3810000" cy="1047750"/>
          </a:xfrm>
        </p:grpSpPr>
        <p:sp>
          <p:nvSpPr>
            <p:cNvPr id="120" name="G1"/>
            <p:cNvSpPr/>
            <p:nvPr/>
          </p:nvSpPr>
          <p:spPr>
            <a:xfrm>
              <a:off x="0" y="0"/>
              <a:ext cx="1143000" cy="1047750"/>
            </a:xfrm>
            <a:prstGeom prst="roundRect">
              <a:avLst/>
            </a:prstGeom>
            <a:solidFill>
              <a:schemeClr val="accent3"/>
            </a:solidFill>
          </p:spPr>
        </p:sp>
        <p:sp>
          <p:nvSpPr>
            <p:cNvPr id="121" name="G2"/>
            <p:cNvSpPr/>
            <p:nvPr/>
          </p:nvSpPr>
          <p:spPr>
            <a:xfrm>
              <a:off x="1333500" y="0"/>
              <a:ext cx="1143000" cy="104775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</p:sp>
        <p:sp>
          <p:nvSpPr>
            <p:cNvPr id="122" name="G3"/>
            <p:cNvSpPr/>
            <p:nvPr/>
          </p:nvSpPr>
          <p:spPr>
            <a:xfrm>
              <a:off x="2667000" y="0"/>
              <a:ext cx="1143000" cy="104775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</p:sp>
      </p:grpSp>
      <p:cxnSp>
        <p:nvCxnSpPr>
          <p:cNvPr id="124" name="Connector"/>
          <p:cNvCxnSpPr/>
          <p:nvPr/>
        </p:nvCxnSpPr>
        <p:spPr>
          <a:xfrm>
            <a:off x="7524750" y="3619500"/>
            <a:ext cx="2857500" cy="857250"/>
          </a:xfrm>
          <a:prstGeom prst="line">
            <a:avLst/>
          </a:prstGeom>
          <a:ln w="23813">
            <a:solidFill>
              <a:srgbClr val="2E4057"/>
            </a:solidFill>
          </a:ln>
        </p:spPr>
      </p:cxnSp>
      <p:sp>
        <p:nvSpPr>
          <p:cNvPr id="125" name="Caption"/>
          <p:cNvSpPr/>
          <p:nvPr/>
        </p:nvSpPr>
        <p:spPr>
          <a:xfrm>
            <a:off x="762000" y="4857750"/>
            <a:ext cx="10668000" cy="381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500" i="1">
                <a:solidFill>
                  <a:srgbClr val="6B7B8C"/>
                </a:solidFill>
              </a:rPr>
              <a:t>Group children scale with the group; the connector is drawn as SVG.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Tables</a:t>
            </a:r>
          </a:p>
        </p:txBody>
      </p:sp>
      <p:graphicFrame>
        <p:nvGraphicFramePr>
          <p:cNvPr id="127" name="Table"/>
          <p:cNvGraphicFramePr/>
          <p:nvPr/>
        </p:nvGraphicFramePr>
        <p:xfrm>
          <a:off x="1143000" y="1905000"/>
          <a:ext cx="9906000" cy="2476500"/>
        </p:xfrm>
        <a:graphic>
          <a:graphicData uri="http://schemas.openxmlformats.org/drawingml/2006/table">
            <a:tbl>
              <a:tblPr firstRow="1" bandRow="1"/>
              <a:tblGrid>
                <a:gridCol w="3238500"/>
                <a:gridCol w="2286000"/>
                <a:gridCol w="2286000"/>
                <a:gridCol w="2095500"/>
              </a:tblGrid>
              <a:tr h="4953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Viewer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Embed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Export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2F6FE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sz="1400"/>
                        <a:t>Text and bullets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yes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yes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yes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sz="1400"/>
                        <a:t>Editing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yes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read-only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n/a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  <a:solidFill>
                      <a:srgbClr val="F2F6FC"/>
                    </a:solidFill>
                  </a:tcPr>
                </a:tc>
              </a:tr>
              <a:tr h="438150">
                <a:tc gridSpan="3">
                  <a:txBody>
                    <a:bodyPr/>
                    <a:lstStyle/>
                    <a:p>
                      <a:r>
                        <a:rPr lang="en-US" sz="1400" b="1"/>
                        <a:t>Merged cell spanning three columns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ok</a:t>
                      </a:r>
                    </a:p>
                  </a:txBody>
                  <a:tcPr marL="76200" marR="76200" marT="38100" marB="38100" anchor="ctr">
                    <a:lnL w="7144">
                      <a:solidFill>
                        <a:srgbClr val="C9D1DB"/>
                      </a:solidFill>
                    </a:lnL>
                    <a:lnR w="7144">
                      <a:solidFill>
                        <a:srgbClr val="C9D1DB"/>
                      </a:solidFill>
                    </a:lnR>
                    <a:lnT w="7144">
                      <a:solidFill>
                        <a:srgbClr val="C9D1DB"/>
                      </a:solidFill>
                    </a:lnT>
                    <a:lnB w="7144">
                      <a:solidFill>
                        <a:srgbClr val="C9D1D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Images and cropping</a:t>
            </a:r>
          </a:p>
        </p:txBody>
      </p:sp>
      <p:pic>
        <p:nvPicPr>
          <p:cNvPr id="129" name="Full image" descr="Full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1905000"/>
            <a:ext cx="4191000" cy="2619375"/>
          </a:xfrm>
          <a:prstGeom prst="rect">
            <a:avLst/>
          </a:prstGeom>
        </p:spPr>
      </p:pic>
      <p:pic>
        <p:nvPicPr>
          <p:cNvPr id="130" name="Cropped image" descr="Cropped image"/>
          <p:cNvPicPr/>
          <p:nvPr/>
        </p:nvPicPr>
        <p:blipFill>
          <a:blip r:embed="rId2"/>
          <a:srcRect l="25000" t="20000" r="25000" b="20000"/>
          <a:stretch>
            <a:fillRect/>
          </a:stretch>
        </p:blipFill>
        <p:spPr>
          <a:xfrm>
            <a:off x="5905500" y="1905000"/>
            <a:ext cx="4191000" cy="2619375"/>
          </a:xfrm>
          <a:prstGeom prst="rect">
            <a:avLst/>
          </a:prstGeom>
        </p:spPr>
      </p:pic>
      <p:sp>
        <p:nvSpPr>
          <p:cNvPr id="131" name="Caption"/>
          <p:cNvSpPr/>
          <p:nvPr/>
        </p:nvSpPr>
        <p:spPr>
          <a:xfrm>
            <a:off x="1143000" y="4762500"/>
            <a:ext cx="8953500" cy="381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500" i="1">
                <a:solidFill>
                  <a:srgbClr val="6B7B8C"/>
                </a:solidFill>
              </a:rPr>
              <a:t>Left: the whole image. Right: the same image with a:srcRect insets applied.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Text alignment, breaks and links</a:t>
            </a:r>
          </a:p>
        </p:txBody>
      </p:sp>
      <p:sp>
        <p:nvSpPr>
          <p:cNvPr id="133" name="Left box"/>
          <p:cNvSpPr/>
          <p:nvPr/>
        </p:nvSpPr>
        <p:spPr>
          <a:xfrm>
            <a:off x="762000" y="1809750"/>
            <a:ext cx="4953000" cy="2095500"/>
          </a:xfrm>
          <a:prstGeom prst="rect">
            <a:avLst/>
          </a:prstGeom>
          <a:solidFill>
            <a:srgbClr val="F5F8FC"/>
          </a:solidFill>
          <a:ln w="9525">
            <a:solidFill>
              <a:srgbClr val="D6DEE8"/>
            </a:solidFill>
          </a:ln>
        </p:spPr>
        <p:txBody>
          <a:bodyPr anchor="ctr"/>
          <a:lstStyle/>
          <a:p>
            <a:pPr algn="l">
              <a:buNone/>
            </a:pPr>
            <a:r>
              <a:rPr lang="en-US"/>
              <a:t>Left aligned</a:t>
            </a:r>
          </a:p>
          <a:p>
            <a:pPr algn="ctr">
              <a:buNone/>
            </a:pPr>
            <a:r>
              <a:rPr lang="en-US"/>
              <a:t>Centred</a:t>
            </a:r>
          </a:p>
          <a:p>
            <a:pPr algn="r">
              <a:buNone/>
            </a:pPr>
            <a:r>
              <a:rPr lang="en-US"/>
              <a:t>Right aligned</a:t>
            </a:r>
          </a:p>
        </p:txBody>
      </p:sp>
      <p:sp>
        <p:nvSpPr>
          <p:cNvPr id="134" name="Right box"/>
          <p:cNvSpPr/>
          <p:nvPr/>
        </p:nvSpPr>
        <p:spPr>
          <a:xfrm>
            <a:off x="6096000" y="1809750"/>
            <a:ext cx="5334000" cy="209550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en-US"/>
              <a:t>A line break inside one paragraph:</a:t>
            </a:r>
            <a:br/>
            <a:r>
              <a:rPr lang="en-US"/>
              <a:t>…continues here without a new bullet.</a:t>
            </a:r>
          </a:p>
          <a:p>
            <a:pPr>
              <a:buNone/>
            </a:pPr>
            <a:r>
              <a:rPr lang="en-US"/>
              <a:t/>
            </a:r>
          </a:p>
          <a:p>
            <a:pPr>
              <a:buNone/>
            </a:pPr>
            <a:r>
              <a:rPr lang="en-US"/>
              <a:t>And a hyperlink to </a:t>
            </a:r>
            <a:r>
              <a:rPr lang="en-US" u="sng">
                <a:solidFill>
                  <a:srgbClr val="1971C2"/>
                </a:solidFill>
                <a:hlinkClick r:id="rId2"/>
              </a:rPr>
              <a:t>obsidian.md</a:t>
            </a:r>
          </a:p>
        </p:txBody>
      </p:sp>
      <p:sp>
        <p:nvSpPr>
          <p:cNvPr id="135" name="Vertical anchors"/>
          <p:cNvSpPr/>
          <p:nvPr/>
        </p:nvSpPr>
        <p:spPr>
          <a:xfrm>
            <a:off x="762000" y="4191000"/>
            <a:ext cx="1066800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buNone/>
            </a:pPr>
            <a:r>
              <a:rPr lang="en-US" sz="2000" b="1">
                <a:solidFill>
                  <a:srgbClr val="1A3F7A"/>
                </a:solidFill>
              </a:rPr>
              <a:t>Vertically centred in a rounded rectangle</a:t>
            </a:r>
          </a:p>
          <a:p>
            <a:pPr algn="ctr">
              <a:buNone/>
            </a:pPr>
            <a:r>
              <a:rPr lang="en-US" sz="1500">
                <a:solidFill>
                  <a:srgbClr val="3D5A80"/>
                </a:solidFill>
              </a:rPr>
              <a:t>This slide has speaker notes — press N to see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Charts</a:t>
            </a:r>
          </a:p>
        </p:txBody>
      </p:sp>
      <p:graphicFrame>
        <p:nvGraphicFramePr>
          <p:cNvPr id="137" name="Column chart"/>
          <p:cNvGraphicFramePr/>
          <p:nvPr/>
        </p:nvGraphicFramePr>
        <p:xfrm>
          <a:off x="762000" y="1619250"/>
          <a:ext cx="5334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8" name="Pie chart"/>
          <p:cNvGraphicFramePr/>
          <p:nvPr/>
        </p:nvGraphicFramePr>
        <p:xfrm>
          <a:off x="6477000" y="1619250"/>
          <a:ext cx="4953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9" name="Caption"/>
          <p:cNvSpPr/>
          <p:nvPr/>
        </p:nvSpPr>
        <p:spPr>
          <a:xfrm>
            <a:off x="762000" y="5048250"/>
            <a:ext cx="10668000" cy="381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500" i="1">
                <a:solidFill>
                  <a:srgbClr val="6B7B8C"/>
                </a:solidFill>
              </a:rPr>
              <a:t>Both are drawn from the values cached in the chart part — no workbook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"/>
          <p:cNvSpPr/>
          <p:nvPr>
            <p:ph type="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/>
              <a:t>More chart types</a:t>
            </a:r>
          </a:p>
        </p:txBody>
      </p:sp>
      <p:graphicFrame>
        <p:nvGraphicFramePr>
          <p:cNvPr id="141" name="Line chart"/>
          <p:cNvGraphicFramePr/>
          <p:nvPr/>
        </p:nvGraphicFramePr>
        <p:xfrm>
          <a:off x="762000" y="1619250"/>
          <a:ext cx="5143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2" name="Stacked bar"/>
          <p:cNvGraphicFramePr/>
          <p:nvPr/>
        </p:nvGraphicFramePr>
        <p:xfrm>
          <a:off x="6286500" y="1619250"/>
          <a:ext cx="5143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3" name="Doughnut"/>
          <p:cNvGraphicFramePr/>
          <p:nvPr/>
        </p:nvGraphicFramePr>
        <p:xfrm>
          <a:off x="762000" y="4953000"/>
          <a:ext cx="2857500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4" name="Caption"/>
          <p:cNvSpPr/>
          <p:nvPr/>
        </p:nvSpPr>
        <p:spPr>
          <a:xfrm>
            <a:off x="4000500" y="5334000"/>
            <a:ext cx="7429500" cy="571500"/>
          </a:xfrm>
          <a:prstGeom prst="rect">
            <a:avLst/>
          </a:prstGeom>
          <a:noFill/>
        </p:spPr>
        <p:txBody>
          <a:bodyPr anchor="ctr"/>
          <a:lstStyle/>
          <a:p>
            <a:pPr>
              <a:buNone/>
            </a:pPr>
            <a:r>
              <a:rPr lang="en-US" sz="1500" i="1">
                <a:solidFill>
                  <a:srgbClr val="6B7B8C"/>
                </a:solidFill>
              </a:rPr>
              <a:t>A line with a gap in the data, a horizontal stacked bar, and a doughnut.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B2733"/>
      </a:dk1>
      <a:lt1>
        <a:srgbClr val="FFFFFF"/>
      </a:lt1>
      <a:dk2>
        <a:srgbClr val="2E4057"/>
      </a:dk2>
      <a:lt2>
        <a:srgbClr val="EEF2F6"/>
      </a:lt2>
      <a:accent1>
        <a:srgbClr val="2F6FED"/>
      </a:accent1>
      <a:accent2>
        <a:srgbClr val="E8590C"/>
      </a:accent2>
      <a:accent3>
        <a:srgbClr val="12B886"/>
      </a:accent3>
      <a:accent4>
        <a:srgbClr val="F59F00"/>
      </a:accent4>
      <a:accent5>
        <a:srgbClr val="7048E8"/>
      </a:accent5>
      <a:accent6>
        <a:srgbClr val="E64980"/>
      </a:accent6>
      <a:hlink>
        <a:srgbClr val="1971C2"/>
      </a:hlink>
      <a:folHlink>
        <a:srgbClr val="9C36B5"/>
      </a:folHlink>
    </a:clrScheme>
    <a:fontScheme name="Fixture">
      <a:majorFont>
        <a:latin typeface="Helvetica Neue"/>
        <a:ea typeface="Hiragino Sans"/>
        <a:cs typeface=""/>
      </a:majorFont>
      <a:minorFont>
        <a:latin typeface="Helvetica Neue"/>
        <a:ea typeface="Hiragino Sans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lumMod val="60000"/>
            <a:lumOff val="40000"/>
          </a:schemeClr>
        </a:solidFill>
        <a:solidFill>
          <a:schemeClr val="phClr">
            <a:shade val="80000"/>
          </a:schemeClr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Fixture">
  <a:themeElements>
    <a:clrScheme name="Fixture">
      <a:dk1>
        <a:srgbClr val="1B2733"/>
      </a:dk1>
      <a:lt1>
        <a:srgbClr val="FFFFFF"/>
      </a:lt1>
      <a:dk2>
        <a:srgbClr val="2E4057"/>
      </a:dk2>
      <a:lt2>
        <a:srgbClr val="EEF2F6"/>
      </a:lt2>
      <a:accent1>
        <a:srgbClr val="2F6FED"/>
      </a:accent1>
      <a:accent2>
        <a:srgbClr val="E8590C"/>
      </a:accent2>
      <a:accent3>
        <a:srgbClr val="12B886"/>
      </a:accent3>
      <a:accent4>
        <a:srgbClr val="F59F00"/>
      </a:accent4>
      <a:accent5>
        <a:srgbClr val="7048E8"/>
      </a:accent5>
      <a:accent6>
        <a:srgbClr val="E64980"/>
      </a:accent6>
      <a:hlink>
        <a:srgbClr val="1971C2"/>
      </a:hlink>
      <a:folHlink>
        <a:srgbClr val="9C36B5"/>
      </a:folHlink>
    </a:clrScheme>
    <a:fontScheme name="Fixture">
      <a:majorFont>
        <a:latin typeface="Helvetica Neue"/>
        <a:ea typeface="Hiragino Sans"/>
        <a:cs typeface=""/>
      </a:majorFont>
      <a:minorFont>
        <a:latin typeface="Helvetica Neue"/>
        <a:ea typeface="Hiragino Sans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lumMod val="60000"/>
            <a:lumOff val="40000"/>
          </a:schemeClr>
        </a:solidFill>
        <a:solidFill>
          <a:schemeClr val="phClr">
            <a:shade val="80000"/>
          </a:schemeClr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obsidian-pptx-viewer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Viewer fixture</dc:title>
  <dc:creator>obsidian-pptx-viewer</dc:creator>
  <cp:lastModifiedBy>obsidian-pptx-viewer</cp:lastModifiedBy>
</cp:coreProperties>
</file>